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7" r:id="rId7"/>
    <p:sldId id="260" r:id="rId8"/>
    <p:sldId id="261" r:id="rId9"/>
    <p:sldId id="262" r:id="rId10"/>
    <p:sldId id="268" r:id="rId11"/>
    <p:sldId id="263" r:id="rId12"/>
    <p:sldId id="264" r:id="rId13"/>
    <p:sldId id="270" r:id="rId14"/>
    <p:sldId id="271" r:id="rId15"/>
    <p:sldId id="266" r:id="rId16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68" d="100"/>
          <a:sy n="168" d="100"/>
        </p:scale>
        <p:origin x="1554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94" y="1053418"/>
            <a:ext cx="2550160" cy="210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4608195" cy="359410"/>
          </a:xfrm>
          <a:custGeom>
            <a:avLst/>
            <a:gdLst/>
            <a:ahLst/>
            <a:cxnLst/>
            <a:rect l="l" t="t" r="r" b="b"/>
            <a:pathLst>
              <a:path w="4608195" h="359410">
                <a:moveTo>
                  <a:pt x="4608004" y="0"/>
                </a:moveTo>
                <a:lnTo>
                  <a:pt x="0" y="0"/>
                </a:lnTo>
                <a:lnTo>
                  <a:pt x="0" y="358800"/>
                </a:lnTo>
                <a:lnTo>
                  <a:pt x="4608004" y="358800"/>
                </a:lnTo>
                <a:lnTo>
                  <a:pt x="4608004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31" y="82852"/>
            <a:ext cx="2980055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63745" y="3208620"/>
            <a:ext cx="255904" cy="14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47294" y="1053418"/>
            <a:ext cx="2872156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200" spc="-10" dirty="0" smtClean="0">
                <a:solidFill>
                  <a:srgbClr val="22373A"/>
                </a:solidFill>
              </a:rPr>
              <a:t>Презентация</a:t>
            </a:r>
            <a:r>
              <a:rPr sz="1200" spc="40" dirty="0" smtClean="0">
                <a:solidFill>
                  <a:srgbClr val="22373A"/>
                </a:solidFill>
              </a:rPr>
              <a:t> </a:t>
            </a:r>
            <a:r>
              <a:rPr sz="1200" dirty="0" err="1">
                <a:solidFill>
                  <a:srgbClr val="22373A"/>
                </a:solidFill>
              </a:rPr>
              <a:t>лабораторной</a:t>
            </a:r>
            <a:r>
              <a:rPr sz="1200" spc="40" dirty="0">
                <a:solidFill>
                  <a:srgbClr val="22373A"/>
                </a:solidFill>
              </a:rPr>
              <a:t> </a:t>
            </a:r>
            <a:r>
              <a:rPr sz="1200" dirty="0" err="1" smtClean="0">
                <a:solidFill>
                  <a:srgbClr val="22373A"/>
                </a:solidFill>
              </a:rPr>
              <a:t>работ</a:t>
            </a:r>
            <a:r>
              <a:rPr lang="ru-RU" sz="1200" dirty="0" smtClean="0">
                <a:solidFill>
                  <a:srgbClr val="22373A"/>
                </a:solidFill>
              </a:rPr>
              <a:t>ы</a:t>
            </a:r>
            <a:r>
              <a:rPr sz="1200" spc="40" dirty="0" smtClean="0">
                <a:solidFill>
                  <a:srgbClr val="22373A"/>
                </a:solidFill>
              </a:rPr>
              <a:t> </a:t>
            </a:r>
            <a:r>
              <a:rPr sz="1200" spc="-25" dirty="0" smtClean="0">
                <a:solidFill>
                  <a:srgbClr val="22373A"/>
                </a:solidFill>
              </a:rPr>
              <a:t>№</a:t>
            </a:r>
            <a:r>
              <a:rPr lang="ru-RU" sz="1200" spc="-25" dirty="0" smtClean="0">
                <a:solidFill>
                  <a:srgbClr val="22373A"/>
                </a:solidFill>
              </a:rPr>
              <a:t>3</a:t>
            </a:r>
            <a:endParaRPr sz="1200" dirty="0"/>
          </a:p>
        </p:txBody>
      </p:sp>
      <p:sp>
        <p:nvSpPr>
          <p:cNvPr id="3" name="object 3"/>
          <p:cNvSpPr/>
          <p:nvPr/>
        </p:nvSpPr>
        <p:spPr>
          <a:xfrm>
            <a:off x="359994" y="1489183"/>
            <a:ext cx="3888104" cy="5080"/>
          </a:xfrm>
          <a:custGeom>
            <a:avLst/>
            <a:gdLst/>
            <a:ahLst/>
            <a:cxnLst/>
            <a:rect l="l" t="t" r="r" b="b"/>
            <a:pathLst>
              <a:path w="3888104" h="5080">
                <a:moveTo>
                  <a:pt x="0" y="5060"/>
                </a:moveTo>
                <a:lnTo>
                  <a:pt x="0" y="0"/>
                </a:lnTo>
                <a:lnTo>
                  <a:pt x="3888054" y="0"/>
                </a:lnTo>
                <a:lnTo>
                  <a:pt x="388805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0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5046" y="1690999"/>
            <a:ext cx="1579004" cy="6645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>
              <a:lnSpc>
                <a:spcPct val="155500"/>
              </a:lnSpc>
              <a:spcBef>
                <a:spcPts val="100"/>
              </a:spcBef>
            </a:pPr>
            <a:r>
              <a:rPr lang="ru-RU" sz="850" spc="-10" dirty="0" err="1" smtClean="0">
                <a:solidFill>
                  <a:srgbClr val="22373A"/>
                </a:solidFill>
                <a:latin typeface="Trebuchet MS"/>
                <a:cs typeface="Trebuchet MS"/>
              </a:rPr>
              <a:t>Лабузов</a:t>
            </a:r>
            <a:r>
              <a:rPr lang="ru-RU" sz="850" spc="-10" dirty="0" smtClean="0">
                <a:solidFill>
                  <a:srgbClr val="22373A"/>
                </a:solidFill>
                <a:latin typeface="Trebuchet MS"/>
                <a:cs typeface="Trebuchet MS"/>
              </a:rPr>
              <a:t> Александр Сергеевич</a:t>
            </a:r>
            <a:r>
              <a:rPr sz="850" spc="-10" dirty="0" smtClean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850" spc="-65" dirty="0">
                <a:solidFill>
                  <a:srgbClr val="22373A"/>
                </a:solidFill>
                <a:latin typeface="Trebuchet MS"/>
                <a:cs typeface="Trebuchet MS"/>
              </a:rPr>
              <a:t>14</a:t>
            </a:r>
            <a:r>
              <a:rPr sz="850" spc="-15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850" spc="-10" dirty="0">
                <a:solidFill>
                  <a:srgbClr val="22373A"/>
                </a:solidFill>
                <a:latin typeface="Trebuchet MS"/>
                <a:cs typeface="Trebuchet MS"/>
              </a:rPr>
              <a:t>Сентября </a:t>
            </a:r>
            <a:r>
              <a:rPr sz="850" spc="-20" dirty="0">
                <a:solidFill>
                  <a:srgbClr val="22373A"/>
                </a:solidFill>
                <a:latin typeface="Trebuchet MS"/>
                <a:cs typeface="Trebuchet MS"/>
              </a:rPr>
              <a:t>2024</a:t>
            </a:r>
            <a:endParaRPr sz="8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850" dirty="0">
              <a:latin typeface="Trebuchet MS"/>
              <a:cs typeface="Trebuchet MS"/>
            </a:endParaRPr>
          </a:p>
          <a:p>
            <a:pPr marL="14604">
              <a:lnSpc>
                <a:spcPct val="100000"/>
              </a:lnSpc>
            </a:pPr>
            <a:r>
              <a:rPr sz="650" spc="-30" dirty="0">
                <a:solidFill>
                  <a:srgbClr val="22373A"/>
                </a:solidFill>
                <a:latin typeface="Trebuchet MS"/>
                <a:cs typeface="Trebuchet MS"/>
              </a:rPr>
              <a:t>РУДН,</a:t>
            </a:r>
            <a:r>
              <a:rPr sz="650" spc="-15" dirty="0">
                <a:solidFill>
                  <a:srgbClr val="22373A"/>
                </a:solidFill>
                <a:latin typeface="Trebuchet MS"/>
                <a:cs typeface="Trebuchet MS"/>
              </a:rPr>
              <a:t> </a:t>
            </a:r>
            <a:r>
              <a:rPr sz="650" dirty="0">
                <a:solidFill>
                  <a:srgbClr val="22373A"/>
                </a:solidFill>
                <a:latin typeface="Trebuchet MS"/>
                <a:cs typeface="Trebuchet MS"/>
              </a:rPr>
              <a:t>Москва,</a:t>
            </a:r>
            <a:r>
              <a:rPr sz="650" spc="-10" dirty="0">
                <a:solidFill>
                  <a:srgbClr val="22373A"/>
                </a:solidFill>
                <a:latin typeface="Trebuchet MS"/>
                <a:cs typeface="Trebuchet MS"/>
              </a:rPr>
              <a:t> Россия</a:t>
            </a:r>
            <a:endParaRPr sz="65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1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7250" y="1431674"/>
            <a:ext cx="2895600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200" spc="-10" dirty="0" smtClean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Презентация</a:t>
            </a:r>
            <a:r>
              <a:rPr sz="1200" spc="50" dirty="0" smtClean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20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лабораторной</a:t>
            </a:r>
            <a:r>
              <a:rPr sz="1200" spc="50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200" dirty="0" err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работы</a:t>
            </a:r>
            <a:r>
              <a:rPr sz="1200" spc="55" dirty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200" spc="-25" dirty="0" smtClean="0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№</a:t>
            </a:r>
            <a:r>
              <a:rPr lang="en-US" sz="1200" spc="-25" dirty="0" smtClean="0">
                <a:solidFill>
                  <a:srgbClr val="22373A"/>
                </a:solidFill>
                <a:latin typeface="Arial"/>
                <a:cs typeface="Arial"/>
              </a:rPr>
              <a:t>3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10196" y="1773828"/>
            <a:ext cx="2588260" cy="5080"/>
            <a:chOff x="1010196" y="1773828"/>
            <a:chExt cx="2588260" cy="5080"/>
          </a:xfrm>
        </p:grpSpPr>
        <p:sp>
          <p:nvSpPr>
            <p:cNvPr id="4" name="object 4"/>
            <p:cNvSpPr/>
            <p:nvPr/>
          </p:nvSpPr>
          <p:spPr>
            <a:xfrm>
              <a:off x="1010196" y="1773828"/>
              <a:ext cx="2588260" cy="5080"/>
            </a:xfrm>
            <a:custGeom>
              <a:avLst/>
              <a:gdLst/>
              <a:ahLst/>
              <a:cxnLst/>
              <a:rect l="l" t="t" r="r" b="b"/>
              <a:pathLst>
                <a:path w="2588260" h="5080">
                  <a:moveTo>
                    <a:pt x="0" y="5060"/>
                  </a:moveTo>
                  <a:lnTo>
                    <a:pt x="0" y="0"/>
                  </a:lnTo>
                  <a:lnTo>
                    <a:pt x="2587637" y="0"/>
                  </a:lnTo>
                  <a:lnTo>
                    <a:pt x="25876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0196" y="1773828"/>
              <a:ext cx="259079" cy="5080"/>
            </a:xfrm>
            <a:custGeom>
              <a:avLst/>
              <a:gdLst/>
              <a:ahLst/>
              <a:cxnLst/>
              <a:rect l="l" t="t" r="r" b="b"/>
              <a:pathLst>
                <a:path w="259080" h="5080">
                  <a:moveTo>
                    <a:pt x="0" y="5060"/>
                  </a:moveTo>
                  <a:lnTo>
                    <a:pt x="0" y="0"/>
                  </a:lnTo>
                  <a:lnTo>
                    <a:pt x="258779" y="0"/>
                  </a:lnTo>
                  <a:lnTo>
                    <a:pt x="2587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Цель</a:t>
            </a:r>
            <a:r>
              <a:rPr spc="-30" dirty="0"/>
              <a:t> </a:t>
            </a:r>
            <a:r>
              <a:rPr spc="-10" dirty="0"/>
              <a:t>работы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4"/>
            <a:ext cx="4608195" cy="5080"/>
            <a:chOff x="0" y="358794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4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4"/>
              <a:ext cx="922019" cy="5080"/>
            </a:xfrm>
            <a:custGeom>
              <a:avLst/>
              <a:gdLst/>
              <a:ahLst/>
              <a:cxnLst/>
              <a:rect l="l" t="t" r="r" b="b"/>
              <a:pathLst>
                <a:path w="922019" h="5079">
                  <a:moveTo>
                    <a:pt x="0" y="5060"/>
                  </a:moveTo>
                  <a:lnTo>
                    <a:pt x="0" y="0"/>
                  </a:lnTo>
                  <a:lnTo>
                    <a:pt x="921598" y="0"/>
                  </a:lnTo>
                  <a:lnTo>
                    <a:pt x="92159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61009" y="663575"/>
            <a:ext cx="3140075" cy="70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2560" indent="-103505">
              <a:lnSpc>
                <a:spcPct val="100000"/>
              </a:lnSpc>
              <a:spcBef>
                <a:spcPts val="125"/>
              </a:spcBef>
              <a:buChar char="•"/>
              <a:tabLst>
                <a:tab pos="162560" algn="l"/>
              </a:tabLst>
            </a:pP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Научиться выполнять простые операции с числами, векторами и матрицами в </a:t>
            </a:r>
            <a:r>
              <a:rPr lang="ru-RU" sz="900" dirty="0" err="1" smtClean="0">
                <a:solidFill>
                  <a:srgbClr val="22373A"/>
                </a:solidFill>
                <a:latin typeface="Trebuchet MS"/>
                <a:cs typeface="Trebuchet MS"/>
              </a:rPr>
              <a:t>Octave</a:t>
            </a: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. Вычислять проектор. Строить графики (точечно и по функциям)в </a:t>
            </a:r>
            <a:r>
              <a:rPr lang="ru-RU" sz="900" dirty="0" err="1" smtClean="0">
                <a:solidFill>
                  <a:srgbClr val="22373A"/>
                </a:solidFill>
                <a:latin typeface="Trebuchet MS"/>
                <a:cs typeface="Trebuchet MS"/>
              </a:rPr>
              <a:t>Octave</a:t>
            </a: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, а также задавать свойства графикам: цвет, легенду, ширину. Использовать циклы в </a:t>
            </a:r>
            <a:r>
              <a:rPr lang="ru-RU" sz="900" dirty="0" err="1" smtClean="0">
                <a:solidFill>
                  <a:srgbClr val="22373A"/>
                </a:solidFill>
                <a:latin typeface="Trebuchet MS"/>
                <a:cs typeface="Trebuchet MS"/>
              </a:rPr>
              <a:t>Octave</a:t>
            </a: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.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82852"/>
            <a:ext cx="2980055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pc="-25" dirty="0"/>
              <a:t>Задание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358794"/>
            <a:ext cx="4608195" cy="5080"/>
            <a:chOff x="0" y="358794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4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4"/>
              <a:ext cx="922019" cy="5080"/>
            </a:xfrm>
            <a:custGeom>
              <a:avLst/>
              <a:gdLst/>
              <a:ahLst/>
              <a:cxnLst/>
              <a:rect l="l" t="t" r="r" b="b"/>
              <a:pathLst>
                <a:path w="922019" h="5079">
                  <a:moveTo>
                    <a:pt x="0" y="5060"/>
                  </a:moveTo>
                  <a:lnTo>
                    <a:pt x="0" y="0"/>
                  </a:lnTo>
                  <a:lnTo>
                    <a:pt x="921598" y="0"/>
                  </a:lnTo>
                  <a:lnTo>
                    <a:pt x="92159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61009" y="663575"/>
            <a:ext cx="3291841" cy="189346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2560" indent="-103505">
              <a:lnSpc>
                <a:spcPct val="100000"/>
              </a:lnSpc>
              <a:spcBef>
                <a:spcPts val="125"/>
              </a:spcBef>
              <a:buChar char="•"/>
              <a:tabLst>
                <a:tab pos="162560" algn="l"/>
              </a:tabLst>
            </a:pP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Научиться выполнять простые операции с числами, векторами и матрицами в </a:t>
            </a:r>
            <a:r>
              <a:rPr lang="ru-RU" sz="900" dirty="0" err="1" smtClean="0">
                <a:solidFill>
                  <a:srgbClr val="22373A"/>
                </a:solidFill>
                <a:latin typeface="Trebuchet MS"/>
                <a:cs typeface="Trebuchet MS"/>
              </a:rPr>
              <a:t>Octave</a:t>
            </a: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. Вычислять проектор. Строить графики (точечно и по функциям)в </a:t>
            </a:r>
            <a:r>
              <a:rPr lang="ru-RU" sz="900" dirty="0" err="1" smtClean="0">
                <a:solidFill>
                  <a:srgbClr val="22373A"/>
                </a:solidFill>
                <a:latin typeface="Trebuchet MS"/>
                <a:cs typeface="Trebuchet MS"/>
              </a:rPr>
              <a:t>Octave</a:t>
            </a: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, а также задавать свойства графикам: цвет, легенду, ширину. Использовать циклы в </a:t>
            </a:r>
            <a:r>
              <a:rPr lang="ru-RU" sz="900" dirty="0" err="1" smtClean="0">
                <a:solidFill>
                  <a:srgbClr val="22373A"/>
                </a:solidFill>
                <a:latin typeface="Trebuchet MS"/>
                <a:cs typeface="Trebuchet MS"/>
              </a:rPr>
              <a:t>Octave</a:t>
            </a: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.</a:t>
            </a:r>
          </a:p>
          <a:p>
            <a:pPr marL="162560" indent="-103505">
              <a:lnSpc>
                <a:spcPct val="100000"/>
              </a:lnSpc>
              <a:spcBef>
                <a:spcPts val="125"/>
              </a:spcBef>
              <a:buChar char="•"/>
              <a:tabLst>
                <a:tab pos="162560" algn="l"/>
              </a:tabLst>
            </a:pP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Использовать простейшие операции </a:t>
            </a:r>
            <a:r>
              <a:rPr lang="ru-RU" sz="900" dirty="0" err="1" smtClean="0">
                <a:solidFill>
                  <a:srgbClr val="22373A"/>
                </a:solidFill>
                <a:latin typeface="Trebuchet MS"/>
                <a:cs typeface="Trebuchet MS"/>
              </a:rPr>
              <a:t>Octave</a:t>
            </a:r>
            <a:endParaRPr lang="ru-RU" sz="900" dirty="0" smtClean="0">
              <a:solidFill>
                <a:srgbClr val="22373A"/>
              </a:solidFill>
              <a:latin typeface="Trebuchet MS"/>
              <a:cs typeface="Trebuchet MS"/>
            </a:endParaRPr>
          </a:p>
          <a:p>
            <a:pPr marL="162560" indent="-103505">
              <a:lnSpc>
                <a:spcPct val="100000"/>
              </a:lnSpc>
              <a:spcBef>
                <a:spcPts val="125"/>
              </a:spcBef>
              <a:buChar char="•"/>
              <a:tabLst>
                <a:tab pos="162560" algn="l"/>
              </a:tabLst>
            </a:pP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Познакомиться с операциями с векторами, матрицами, вычислением проектора в </a:t>
            </a:r>
            <a:r>
              <a:rPr lang="ru-RU" sz="900" dirty="0" err="1" smtClean="0">
                <a:solidFill>
                  <a:srgbClr val="22373A"/>
                </a:solidFill>
                <a:latin typeface="Trebuchet MS"/>
                <a:cs typeface="Trebuchet MS"/>
              </a:rPr>
              <a:t>Оctave</a:t>
            </a:r>
            <a:endParaRPr lang="ru-RU" sz="900" dirty="0" smtClean="0">
              <a:solidFill>
                <a:srgbClr val="22373A"/>
              </a:solidFill>
              <a:latin typeface="Trebuchet MS"/>
              <a:cs typeface="Trebuchet MS"/>
            </a:endParaRPr>
          </a:p>
          <a:p>
            <a:pPr marL="162560" indent="-103505">
              <a:lnSpc>
                <a:spcPct val="100000"/>
              </a:lnSpc>
              <a:spcBef>
                <a:spcPts val="125"/>
              </a:spcBef>
              <a:buChar char="•"/>
              <a:tabLst>
                <a:tab pos="162560" algn="l"/>
              </a:tabLst>
            </a:pP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Построить простейшие графики</a:t>
            </a:r>
          </a:p>
          <a:p>
            <a:pPr marL="162560" indent="-103505">
              <a:lnSpc>
                <a:spcPct val="100000"/>
              </a:lnSpc>
              <a:spcBef>
                <a:spcPts val="125"/>
              </a:spcBef>
              <a:buChar char="•"/>
              <a:tabLst>
                <a:tab pos="162560" algn="l"/>
              </a:tabLst>
            </a:pP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Построить 2 графика на одном </a:t>
            </a:r>
            <a:r>
              <a:rPr lang="ru-RU" sz="900" dirty="0" err="1" smtClean="0">
                <a:solidFill>
                  <a:srgbClr val="22373A"/>
                </a:solidFill>
                <a:latin typeface="Trebuchet MS"/>
                <a:cs typeface="Trebuchet MS"/>
              </a:rPr>
              <a:t>черетеже</a:t>
            </a:r>
            <a:endParaRPr lang="ru-RU" sz="900" dirty="0" smtClean="0">
              <a:solidFill>
                <a:srgbClr val="22373A"/>
              </a:solidFill>
              <a:latin typeface="Trebuchet MS"/>
              <a:cs typeface="Trebuchet MS"/>
            </a:endParaRPr>
          </a:p>
          <a:p>
            <a:pPr marL="162560" indent="-103505">
              <a:lnSpc>
                <a:spcPct val="100000"/>
              </a:lnSpc>
              <a:spcBef>
                <a:spcPts val="125"/>
              </a:spcBef>
              <a:buChar char="•"/>
              <a:tabLst>
                <a:tab pos="162560" algn="l"/>
              </a:tabLst>
            </a:pP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Построить график функции по точкам</a:t>
            </a:r>
          </a:p>
          <a:p>
            <a:pPr marL="162560" indent="-103505">
              <a:lnSpc>
                <a:spcPct val="100000"/>
              </a:lnSpc>
              <a:spcBef>
                <a:spcPts val="125"/>
              </a:spcBef>
              <a:buChar char="•"/>
              <a:tabLst>
                <a:tab pos="162560" algn="l"/>
              </a:tabLst>
            </a:pP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Сравнить цикл и операцию с вектором, записанные в других файлах, </a:t>
            </a:r>
          </a:p>
        </p:txBody>
      </p:sp>
    </p:spTree>
    <p:extLst>
      <p:ext uri="{BB962C8B-B14F-4D97-AF65-F5344CB8AC3E}">
        <p14:creationId xmlns:p14="http://schemas.microsoft.com/office/powerpoint/2010/main" val="1039194264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82852"/>
            <a:ext cx="3401619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dirty="0"/>
              <a:t>Выполнение простейших операций 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358794"/>
            <a:ext cx="4608195" cy="5080"/>
            <a:chOff x="0" y="358794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4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4"/>
              <a:ext cx="1383030" cy="5080"/>
            </a:xfrm>
            <a:custGeom>
              <a:avLst/>
              <a:gdLst/>
              <a:ahLst/>
              <a:cxnLst/>
              <a:rect l="l" t="t" r="r" b="b"/>
              <a:pathLst>
                <a:path w="1383030" h="5079">
                  <a:moveTo>
                    <a:pt x="0" y="5060"/>
                  </a:moveTo>
                  <a:lnTo>
                    <a:pt x="0" y="0"/>
                  </a:lnTo>
                  <a:lnTo>
                    <a:pt x="1382433" y="0"/>
                  </a:lnTo>
                  <a:lnTo>
                    <a:pt x="138243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1361" y="404092"/>
            <a:ext cx="2012290" cy="2115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570" marR="5080" indent="-103505">
              <a:lnSpc>
                <a:spcPct val="144300"/>
              </a:lnSpc>
              <a:spcBef>
                <a:spcPts val="95"/>
              </a:spcBef>
              <a:buChar char="•"/>
              <a:tabLst>
                <a:tab pos="115570" algn="l"/>
              </a:tabLst>
            </a:pP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Выполнил простейшие операции.</a:t>
            </a:r>
            <a:endParaRPr sz="900" dirty="0">
              <a:latin typeface="Trebuchet MS"/>
              <a:cs typeface="Trebuchet MS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632746"/>
            <a:ext cx="3067478" cy="18004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6850" y="2568575"/>
            <a:ext cx="1905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 smtClean="0">
                <a:latin typeface="Trebuchet MS" panose="020B0603020202020204" pitchFamily="34" charset="0"/>
              </a:rPr>
              <a:t>Рис. 1: Простейшие операции </a:t>
            </a:r>
            <a:endParaRPr lang="ru-RU" sz="9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2631" y="82852"/>
            <a:ext cx="3477819" cy="153888"/>
          </a:xfrm>
        </p:spPr>
        <p:txBody>
          <a:bodyPr/>
          <a:lstStyle/>
          <a:p>
            <a:r>
              <a:rPr lang="ru-RU" dirty="0" smtClean="0"/>
              <a:t>Результат работы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85850" y="3101975"/>
            <a:ext cx="2286000" cy="138499"/>
          </a:xfrm>
        </p:spPr>
        <p:txBody>
          <a:bodyPr/>
          <a:lstStyle/>
          <a:p>
            <a:r>
              <a:rPr lang="ru-RU" sz="900" dirty="0" smtClean="0">
                <a:latin typeface="Trebuchet MS" panose="020B0603020202020204" pitchFamily="34" charset="0"/>
              </a:rPr>
              <a:t>Рис. 2:</a:t>
            </a:r>
            <a:r>
              <a:rPr lang="ru-RU" sz="900" dirty="0">
                <a:latin typeface="Trebuchet MS" panose="020B0603020202020204" pitchFamily="34" charset="0"/>
              </a:rPr>
              <a:t> Результат работы простейших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8714" y="55197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>
                <a:latin typeface="Trebuchet MS" panose="020B0603020202020204" pitchFamily="34" charset="0"/>
              </a:rPr>
              <a:t>На изображении ниже приведён результат выполнения простейших операций.</a:t>
            </a:r>
            <a:endParaRPr lang="ru-RU" sz="900" dirty="0">
              <a:latin typeface="Trebuchet MS" panose="020B060302020202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602" y="1032907"/>
            <a:ext cx="1228896" cy="176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008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82852"/>
            <a:ext cx="4011219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dirty="0"/>
              <a:t>Выполнение операций с векторами и матрицами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358794"/>
            <a:ext cx="4608195" cy="5080"/>
            <a:chOff x="0" y="358794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4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4"/>
              <a:ext cx="1843405" cy="5080"/>
            </a:xfrm>
            <a:custGeom>
              <a:avLst/>
              <a:gdLst/>
              <a:ahLst/>
              <a:cxnLst/>
              <a:rect l="l" t="t" r="r" b="b"/>
              <a:pathLst>
                <a:path w="1843405" h="5079">
                  <a:moveTo>
                    <a:pt x="0" y="5060"/>
                  </a:moveTo>
                  <a:lnTo>
                    <a:pt x="0" y="0"/>
                  </a:lnTo>
                  <a:lnTo>
                    <a:pt x="1843201" y="0"/>
                  </a:lnTo>
                  <a:lnTo>
                    <a:pt x="184320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8249" y="472462"/>
            <a:ext cx="3124461" cy="387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3515" marR="5080" indent="-171450">
              <a:lnSpc>
                <a:spcPct val="1443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115570" algn="l"/>
              </a:tabLst>
            </a:pP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Произвёл некоторые операции с векторами и матрицами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68752" y="3178175"/>
            <a:ext cx="1517396" cy="1429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Рис.</a:t>
            </a:r>
            <a:r>
              <a:rPr sz="800" spc="10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ru-RU" sz="800" spc="-10" dirty="0" smtClean="0">
                <a:solidFill>
                  <a:srgbClr val="22373A"/>
                </a:solidFill>
                <a:latin typeface="Arial"/>
                <a:cs typeface="Arial"/>
              </a:rPr>
              <a:t>3</a:t>
            </a:r>
            <a:r>
              <a:rPr sz="800" spc="-10" dirty="0" smtClean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800" spc="10" dirty="0" smtClean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ru-RU" sz="850" dirty="0" smtClean="0">
                <a:solidFill>
                  <a:srgbClr val="22373A"/>
                </a:solidFill>
                <a:latin typeface="Trebuchet MS"/>
                <a:cs typeface="Trebuchet MS"/>
              </a:rPr>
              <a:t>Векторы и матрицы</a:t>
            </a:r>
            <a:endParaRPr sz="850" dirty="0">
              <a:latin typeface="Trebuchet MS"/>
              <a:cs typeface="Trebuchet MS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49" y="902184"/>
            <a:ext cx="2898402" cy="227599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82852"/>
            <a:ext cx="2980055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dirty="0"/>
              <a:t>Результат работы с векторами и матрицами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358794"/>
            <a:ext cx="4608195" cy="5080"/>
            <a:chOff x="0" y="358794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4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4"/>
              <a:ext cx="2304415" cy="5080"/>
            </a:xfrm>
            <a:custGeom>
              <a:avLst/>
              <a:gdLst/>
              <a:ahLst/>
              <a:cxnLst/>
              <a:rect l="l" t="t" r="r" b="b"/>
              <a:pathLst>
                <a:path w="2304415" h="5079">
                  <a:moveTo>
                    <a:pt x="0" y="5060"/>
                  </a:moveTo>
                  <a:lnTo>
                    <a:pt x="0" y="0"/>
                  </a:lnTo>
                  <a:lnTo>
                    <a:pt x="2304034" y="0"/>
                  </a:lnTo>
                  <a:lnTo>
                    <a:pt x="230403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73054" y="487473"/>
            <a:ext cx="2046396" cy="6104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3515" marR="5080" indent="-171450">
              <a:lnSpc>
                <a:spcPct val="1443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115570" algn="l"/>
              </a:tabLst>
            </a:pPr>
            <a:r>
              <a:rPr lang="ru-RU" sz="900" spc="10" dirty="0" smtClean="0">
                <a:solidFill>
                  <a:srgbClr val="22373A"/>
                </a:solidFill>
                <a:latin typeface="Trebuchet MS"/>
                <a:cs typeface="Trebuchet MS"/>
              </a:rPr>
              <a:t>На изображениях ниже приведён результат выполнения операций с векторами и матрицами.</a:t>
            </a:r>
            <a:endParaRPr lang="ru-RU" sz="900" spc="10" dirty="0">
              <a:solidFill>
                <a:srgbClr val="22373A"/>
              </a:solidFill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2050" y="2760790"/>
            <a:ext cx="1981200" cy="1429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Рис.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ru-RU" sz="800" spc="-10" dirty="0" smtClean="0">
                <a:solidFill>
                  <a:srgbClr val="22373A"/>
                </a:solidFill>
                <a:latin typeface="Arial"/>
                <a:cs typeface="Arial"/>
              </a:rPr>
              <a:t>4</a:t>
            </a:r>
            <a:r>
              <a:rPr sz="800" spc="-10" dirty="0" smtClean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800" spc="5" dirty="0" smtClean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ru-RU" sz="850" dirty="0" smtClean="0">
                <a:solidFill>
                  <a:srgbClr val="22373A"/>
                </a:solidFill>
                <a:latin typeface="Trebuchet MS"/>
                <a:cs typeface="Trebuchet MS"/>
              </a:rPr>
              <a:t>Результат векторы и матрицы</a:t>
            </a:r>
            <a:endParaRPr sz="850" dirty="0">
              <a:latin typeface="Trebuchet MS"/>
              <a:cs typeface="Trebuchet MS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1123122"/>
            <a:ext cx="1370965" cy="15240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82852"/>
            <a:ext cx="2715819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dirty="0"/>
              <a:t>Результат работы с векторами и матрицами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358794"/>
            <a:ext cx="4608195" cy="5080"/>
            <a:chOff x="0" y="358794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4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4"/>
              <a:ext cx="2765425" cy="5080"/>
            </a:xfrm>
            <a:custGeom>
              <a:avLst/>
              <a:gdLst/>
              <a:ahLst/>
              <a:cxnLst/>
              <a:rect l="l" t="t" r="r" b="b"/>
              <a:pathLst>
                <a:path w="2765425" h="5079">
                  <a:moveTo>
                    <a:pt x="0" y="5060"/>
                  </a:moveTo>
                  <a:lnTo>
                    <a:pt x="0" y="0"/>
                  </a:lnTo>
                  <a:lnTo>
                    <a:pt x="2764866" y="0"/>
                  </a:lnTo>
                  <a:lnTo>
                    <a:pt x="27648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1360" y="404092"/>
            <a:ext cx="3715385" cy="1882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570" marR="5080" indent="-103505">
              <a:lnSpc>
                <a:spcPct val="144300"/>
              </a:lnSpc>
              <a:spcBef>
                <a:spcPts val="95"/>
              </a:spcBef>
              <a:buChar char="•"/>
              <a:tabLst>
                <a:tab pos="115570" algn="l"/>
              </a:tabLst>
            </a:pPr>
            <a:endParaRPr sz="9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8250" y="2914133"/>
            <a:ext cx="1852295" cy="1429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Рис.</a:t>
            </a:r>
            <a:r>
              <a:rPr sz="800" spc="-1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ru-RU" sz="800" dirty="0" smtClean="0">
                <a:solidFill>
                  <a:srgbClr val="22373A"/>
                </a:solidFill>
                <a:latin typeface="Arial"/>
                <a:cs typeface="Arial"/>
              </a:rPr>
              <a:t>5</a:t>
            </a:r>
            <a:r>
              <a:rPr sz="800" dirty="0" smtClean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800" spc="-10" dirty="0" smtClean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ru-RU" sz="850" dirty="0" smtClean="0">
                <a:solidFill>
                  <a:srgbClr val="22373A"/>
                </a:solidFill>
                <a:latin typeface="Trebuchet MS"/>
                <a:cs typeface="Trebuchet MS"/>
              </a:rPr>
              <a:t>Результат векторы и матрицы</a:t>
            </a:r>
            <a:endParaRPr sz="850" dirty="0">
              <a:latin typeface="Trebuchet MS"/>
              <a:cs typeface="Trebuchet MS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442" y="412925"/>
            <a:ext cx="1697310" cy="249237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2631" y="82852"/>
            <a:ext cx="2980055" cy="153888"/>
          </a:xfrm>
        </p:spPr>
        <p:txBody>
          <a:bodyPr/>
          <a:lstStyle/>
          <a:p>
            <a:r>
              <a:rPr lang="ru-RU" dirty="0"/>
              <a:t>Построение простейшего графика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62050" y="2357093"/>
            <a:ext cx="2362200" cy="287682"/>
          </a:xfrm>
        </p:spPr>
        <p:txBody>
          <a:bodyPr/>
          <a:lstStyle/>
          <a:p>
            <a:r>
              <a:rPr lang="ru-RU" sz="900" dirty="0">
                <a:solidFill>
                  <a:srgbClr val="22373A"/>
                </a:solidFill>
                <a:latin typeface="Trebuchet MS" panose="020B0603020202020204" pitchFamily="34" charset="0"/>
                <a:cs typeface="Arial"/>
              </a:rPr>
              <a:t>Рис.</a:t>
            </a:r>
            <a:r>
              <a:rPr lang="ru-RU" sz="900" spc="-15" dirty="0">
                <a:solidFill>
                  <a:srgbClr val="22373A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lang="ru-RU" sz="900" dirty="0" smtClean="0">
                <a:solidFill>
                  <a:srgbClr val="22373A"/>
                </a:solidFill>
                <a:latin typeface="Trebuchet MS" panose="020B0603020202020204" pitchFamily="34" charset="0"/>
                <a:cs typeface="Arial"/>
              </a:rPr>
              <a:t>6:</a:t>
            </a:r>
            <a:r>
              <a:rPr lang="ru-RU" sz="900" spc="-10" dirty="0" smtClean="0">
                <a:solidFill>
                  <a:srgbClr val="22373A"/>
                </a:solidFill>
                <a:latin typeface="Trebuchet MS" panose="020B0603020202020204" pitchFamily="34" charset="0"/>
                <a:cs typeface="Arial"/>
              </a:rPr>
              <a:t> </a:t>
            </a:r>
            <a:r>
              <a:rPr lang="ru-RU" sz="900" dirty="0">
                <a:solidFill>
                  <a:srgbClr val="22373A"/>
                </a:solidFill>
                <a:latin typeface="Trebuchet MS" panose="020B0603020202020204" pitchFamily="34" charset="0"/>
                <a:cs typeface="Trebuchet MS"/>
              </a:rPr>
              <a:t>Построение простейшего графика</a:t>
            </a:r>
            <a:endParaRPr lang="ru-RU" sz="900" dirty="0">
              <a:latin typeface="Trebuchet MS" panose="020B0603020202020204" pitchFamily="34" charset="0"/>
              <a:cs typeface="Trebuchet MS"/>
            </a:endParaRPr>
          </a:p>
          <a:p>
            <a:endParaRPr lang="ru-RU" sz="900" dirty="0">
              <a:latin typeface="Trebuchet MS" panose="020B06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5850" y="663575"/>
            <a:ext cx="20168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>
                <a:latin typeface="Trebuchet MS" panose="020B0603020202020204" pitchFamily="34" charset="0"/>
              </a:rPr>
              <a:t>Построил простейший график.</a:t>
            </a:r>
            <a:endParaRPr lang="ru-RU" sz="900" dirty="0">
              <a:latin typeface="Trebuchet MS" panose="020B0603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1034969"/>
            <a:ext cx="4191585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621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82852"/>
            <a:ext cx="3935019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dirty="0"/>
              <a:t>Простейший </a:t>
            </a:r>
            <a:r>
              <a:rPr lang="ru-RU" dirty="0" smtClean="0"/>
              <a:t>график</a:t>
            </a:r>
            <a:endParaRPr spc="-2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358794"/>
            <a:ext cx="4608195" cy="5080"/>
            <a:chOff x="0" y="358794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4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4"/>
              <a:ext cx="3225800" cy="5080"/>
            </a:xfrm>
            <a:custGeom>
              <a:avLst/>
              <a:gdLst/>
              <a:ahLst/>
              <a:cxnLst/>
              <a:rect l="l" t="t" r="r" b="b"/>
              <a:pathLst>
                <a:path w="3225800" h="5079">
                  <a:moveTo>
                    <a:pt x="0" y="5060"/>
                  </a:moveTo>
                  <a:lnTo>
                    <a:pt x="0" y="0"/>
                  </a:lnTo>
                  <a:lnTo>
                    <a:pt x="3225622" y="0"/>
                  </a:lnTo>
                  <a:lnTo>
                    <a:pt x="322562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81050" y="545370"/>
            <a:ext cx="1828800" cy="1882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570" marR="5080" indent="-103505">
              <a:lnSpc>
                <a:spcPct val="144300"/>
              </a:lnSpc>
              <a:spcBef>
                <a:spcPts val="95"/>
              </a:spcBef>
              <a:buChar char="•"/>
              <a:tabLst>
                <a:tab pos="115570" algn="l"/>
              </a:tabLst>
            </a:pPr>
            <a:r>
              <a:rPr lang="ru-RU" sz="900" dirty="0" smtClean="0">
                <a:solidFill>
                  <a:srgbClr val="22373A"/>
                </a:solidFill>
                <a:latin typeface="Trebuchet MS"/>
                <a:cs typeface="Trebuchet MS"/>
              </a:rPr>
              <a:t>Вывод графика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6850" y="3101975"/>
            <a:ext cx="1535094" cy="1429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Рис. </a:t>
            </a:r>
            <a:r>
              <a:rPr lang="ru-RU" sz="800" dirty="0" smtClean="0">
                <a:solidFill>
                  <a:srgbClr val="22373A"/>
                </a:solidFill>
                <a:latin typeface="Arial"/>
                <a:cs typeface="Arial"/>
              </a:rPr>
              <a:t>7</a:t>
            </a:r>
            <a:r>
              <a:rPr sz="800" dirty="0" smtClean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800" spc="5" dirty="0" smtClean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ru-RU" sz="850" dirty="0" smtClean="0">
                <a:solidFill>
                  <a:srgbClr val="22373A"/>
                </a:solidFill>
                <a:latin typeface="Trebuchet MS"/>
                <a:cs typeface="Trebuchet MS"/>
              </a:rPr>
              <a:t>Простейший график</a:t>
            </a:r>
            <a:endParaRPr sz="850" dirty="0">
              <a:latin typeface="Trebuchet MS"/>
              <a:cs typeface="Trebuchet MS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" y="892175"/>
            <a:ext cx="2971800" cy="193652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82852"/>
            <a:ext cx="3249219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dirty="0" err="1"/>
              <a:t>Отрисовка</a:t>
            </a:r>
            <a:r>
              <a:rPr lang="ru-RU" dirty="0"/>
              <a:t> более сложных графиков и запуск </a:t>
            </a:r>
            <a:r>
              <a:rPr lang="ru-RU" dirty="0" err="1"/>
              <a:t>цилков</a:t>
            </a:r>
            <a:endParaRPr spc="-2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358794"/>
            <a:ext cx="4608195" cy="5080"/>
            <a:chOff x="0" y="358794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4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4"/>
              <a:ext cx="3686810" cy="5080"/>
            </a:xfrm>
            <a:custGeom>
              <a:avLst/>
              <a:gdLst/>
              <a:ahLst/>
              <a:cxnLst/>
              <a:rect l="l" t="t" r="r" b="b"/>
              <a:pathLst>
                <a:path w="3686810" h="5079">
                  <a:moveTo>
                    <a:pt x="0" y="5060"/>
                  </a:moveTo>
                  <a:lnTo>
                    <a:pt x="0" y="0"/>
                  </a:lnTo>
                  <a:lnTo>
                    <a:pt x="3686467" y="0"/>
                  </a:lnTo>
                  <a:lnTo>
                    <a:pt x="36864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04849" y="404092"/>
            <a:ext cx="2895602" cy="411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570" marR="5080" indent="-103505">
              <a:lnSpc>
                <a:spcPct val="144300"/>
              </a:lnSpc>
              <a:spcBef>
                <a:spcPts val="95"/>
              </a:spcBef>
              <a:buChar char="•"/>
              <a:tabLst>
                <a:tab pos="115570" algn="l"/>
              </a:tabLst>
            </a:pPr>
            <a:r>
              <a:rPr lang="ru-RU" sz="900" spc="10" dirty="0" err="1" smtClean="0">
                <a:solidFill>
                  <a:srgbClr val="22373A"/>
                </a:solidFill>
                <a:latin typeface="Trebuchet MS"/>
                <a:cs typeface="Trebuchet MS"/>
              </a:rPr>
              <a:t>Отрисовал</a:t>
            </a:r>
            <a:r>
              <a:rPr lang="ru-RU" sz="900" spc="10" dirty="0" smtClean="0">
                <a:solidFill>
                  <a:srgbClr val="22373A"/>
                </a:solidFill>
                <a:latin typeface="Trebuchet MS"/>
                <a:cs typeface="Trebuchet MS"/>
              </a:rPr>
              <a:t> более сложные графики с заданием параметров.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8224" y="3025775"/>
            <a:ext cx="2715209" cy="1429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Рис.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ru-RU" sz="800" dirty="0" smtClean="0">
                <a:solidFill>
                  <a:srgbClr val="22373A"/>
                </a:solidFill>
                <a:latin typeface="Arial"/>
                <a:cs typeface="Arial"/>
              </a:rPr>
              <a:t>8</a:t>
            </a:r>
            <a:r>
              <a:rPr sz="800" dirty="0" smtClean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800" spc="10" dirty="0" smtClean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ru-RU" sz="850" dirty="0" err="1" smtClean="0">
                <a:solidFill>
                  <a:srgbClr val="22373A"/>
                </a:solidFill>
                <a:latin typeface="Trebuchet MS"/>
                <a:cs typeface="Trebuchet MS"/>
              </a:rPr>
              <a:t>Отрисовка</a:t>
            </a:r>
            <a:r>
              <a:rPr lang="ru-RU" sz="850" dirty="0" smtClean="0">
                <a:solidFill>
                  <a:srgbClr val="22373A"/>
                </a:solidFill>
                <a:latin typeface="Trebuchet MS"/>
                <a:cs typeface="Trebuchet MS"/>
              </a:rPr>
              <a:t> и запуск</a:t>
            </a:r>
            <a:endParaRPr sz="850" dirty="0">
              <a:latin typeface="Trebuchet MS"/>
              <a:cs typeface="Trebuchet MS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21" y="829794"/>
            <a:ext cx="2828925" cy="20574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1" y="87455"/>
            <a:ext cx="2667000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dirty="0"/>
              <a:t>Улучшенный график</a:t>
            </a:r>
            <a:endParaRPr spc="-2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358794"/>
            <a:ext cx="4608195" cy="5080"/>
            <a:chOff x="0" y="358794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4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4"/>
              <a:ext cx="3686810" cy="5080"/>
            </a:xfrm>
            <a:custGeom>
              <a:avLst/>
              <a:gdLst/>
              <a:ahLst/>
              <a:cxnLst/>
              <a:rect l="l" t="t" r="r" b="b"/>
              <a:pathLst>
                <a:path w="3686810" h="5079">
                  <a:moveTo>
                    <a:pt x="0" y="5060"/>
                  </a:moveTo>
                  <a:lnTo>
                    <a:pt x="0" y="0"/>
                  </a:lnTo>
                  <a:lnTo>
                    <a:pt x="3686467" y="0"/>
                  </a:lnTo>
                  <a:lnTo>
                    <a:pt x="36864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84937" y="2797175"/>
            <a:ext cx="1224913" cy="1429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Рис.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ru-RU" sz="800" dirty="0" smtClean="0">
                <a:solidFill>
                  <a:srgbClr val="22373A"/>
                </a:solidFill>
                <a:latin typeface="Arial"/>
                <a:cs typeface="Arial"/>
              </a:rPr>
              <a:t>9</a:t>
            </a:r>
            <a:r>
              <a:rPr sz="800" dirty="0" smtClean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800" spc="10" dirty="0" smtClean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ru-RU" sz="850" dirty="0" smtClean="0">
                <a:solidFill>
                  <a:srgbClr val="22373A"/>
                </a:solidFill>
                <a:latin typeface="Trebuchet MS"/>
                <a:cs typeface="Trebuchet MS"/>
              </a:rPr>
              <a:t>Улучшенный</a:t>
            </a:r>
            <a:endParaRPr sz="850" dirty="0">
              <a:latin typeface="Trebuchet MS"/>
              <a:cs typeface="Trebuchet MS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48" y="815102"/>
            <a:ext cx="2981961" cy="190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77061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31" y="82852"/>
            <a:ext cx="2411019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dirty="0"/>
              <a:t>Два графика на одном чертеже</a:t>
            </a:r>
            <a:endParaRPr spc="-2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358794"/>
            <a:ext cx="4608195" cy="5080"/>
            <a:chOff x="0" y="358794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4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4"/>
              <a:ext cx="3686810" cy="5080"/>
            </a:xfrm>
            <a:custGeom>
              <a:avLst/>
              <a:gdLst/>
              <a:ahLst/>
              <a:cxnLst/>
              <a:rect l="l" t="t" r="r" b="b"/>
              <a:pathLst>
                <a:path w="3686810" h="5079">
                  <a:moveTo>
                    <a:pt x="0" y="5060"/>
                  </a:moveTo>
                  <a:lnTo>
                    <a:pt x="0" y="0"/>
                  </a:lnTo>
                  <a:lnTo>
                    <a:pt x="3686467" y="0"/>
                  </a:lnTo>
                  <a:lnTo>
                    <a:pt x="36864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43050" y="3036827"/>
            <a:ext cx="1078226" cy="1429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22373A"/>
                </a:solidFill>
                <a:latin typeface="Arial"/>
                <a:cs typeface="Arial"/>
              </a:rPr>
              <a:t>Рис.</a:t>
            </a:r>
            <a:r>
              <a:rPr sz="800" spc="5" dirty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ru-RU" sz="800" dirty="0" smtClean="0">
                <a:solidFill>
                  <a:srgbClr val="22373A"/>
                </a:solidFill>
                <a:latin typeface="Arial"/>
                <a:cs typeface="Arial"/>
              </a:rPr>
              <a:t>10</a:t>
            </a:r>
            <a:r>
              <a:rPr sz="800" dirty="0" smtClean="0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sz="800" spc="10" dirty="0" smtClean="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ru-RU" sz="850" dirty="0" smtClean="0">
                <a:solidFill>
                  <a:srgbClr val="22373A"/>
                </a:solidFill>
                <a:latin typeface="Trebuchet MS"/>
                <a:cs typeface="Trebuchet MS"/>
              </a:rPr>
              <a:t>2 графика</a:t>
            </a:r>
            <a:endParaRPr sz="850" dirty="0">
              <a:latin typeface="Trebuchet MS"/>
              <a:cs typeface="Trebuchet MS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631582"/>
            <a:ext cx="3006692" cy="228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2158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59410"/>
          </a:xfrm>
          <a:custGeom>
            <a:avLst/>
            <a:gdLst/>
            <a:ahLst/>
            <a:cxnLst/>
            <a:rect l="l" t="t" r="r" b="b"/>
            <a:pathLst>
              <a:path w="4608195" h="359410">
                <a:moveTo>
                  <a:pt x="4608004" y="0"/>
                </a:moveTo>
                <a:lnTo>
                  <a:pt x="0" y="0"/>
                </a:lnTo>
                <a:lnTo>
                  <a:pt x="0" y="358800"/>
                </a:lnTo>
                <a:lnTo>
                  <a:pt x="4608004" y="358800"/>
                </a:lnTo>
                <a:lnTo>
                  <a:pt x="4608004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2631" y="82852"/>
            <a:ext cx="50609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F9F9F9"/>
                </a:solidFill>
                <a:latin typeface="Arial"/>
                <a:cs typeface="Arial"/>
              </a:rPr>
              <a:t>Выводы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58794"/>
            <a:ext cx="4608195" cy="5080"/>
            <a:chOff x="0" y="358794"/>
            <a:chExt cx="4608195" cy="5080"/>
          </a:xfrm>
        </p:grpSpPr>
        <p:sp>
          <p:nvSpPr>
            <p:cNvPr id="5" name="object 5"/>
            <p:cNvSpPr/>
            <p:nvPr/>
          </p:nvSpPr>
          <p:spPr>
            <a:xfrm>
              <a:off x="0" y="361327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4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58794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3850" y="653866"/>
            <a:ext cx="3841090" cy="411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570" marR="5080" indent="-103505">
              <a:lnSpc>
                <a:spcPct val="144300"/>
              </a:lnSpc>
              <a:spcBef>
                <a:spcPts val="95"/>
              </a:spcBef>
              <a:buChar char="•"/>
              <a:tabLst>
                <a:tab pos="115570" algn="l"/>
              </a:tabLst>
            </a:pPr>
            <a:r>
              <a:rPr lang="ru-RU" sz="900" spc="10" dirty="0" smtClean="0">
                <a:solidFill>
                  <a:srgbClr val="22373A"/>
                </a:solidFill>
                <a:latin typeface="Trebuchet MS"/>
                <a:cs typeface="Trebuchet MS"/>
              </a:rPr>
              <a:t>На практике изучил работу шифров простой замены реализацией шифра Цезаря с произвольным ключом k и </a:t>
            </a:r>
            <a:r>
              <a:rPr lang="ru-RU" sz="900" spc="10" dirty="0" err="1" smtClean="0">
                <a:solidFill>
                  <a:srgbClr val="22373A"/>
                </a:solidFill>
                <a:latin typeface="Trebuchet MS"/>
                <a:cs typeface="Trebuchet MS"/>
              </a:rPr>
              <a:t>Атбаша</a:t>
            </a:r>
            <a:r>
              <a:rPr lang="ru-RU" sz="900" spc="10" dirty="0" smtClean="0">
                <a:solidFill>
                  <a:srgbClr val="22373A"/>
                </a:solidFill>
                <a:latin typeface="Trebuchet MS"/>
                <a:cs typeface="Trebuchet MS"/>
              </a:rPr>
              <a:t>.</a:t>
            </a:r>
            <a:endParaRPr sz="9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</TotalTime>
  <Words>325</Words>
  <Application>Microsoft Office PowerPoint</Application>
  <PresentationFormat>Произвольный</PresentationFormat>
  <Paragraphs>45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Презентация лабораторной работы №3</vt:lpstr>
      <vt:lpstr>Презентация PowerPoint</vt:lpstr>
      <vt:lpstr>Цель работы</vt:lpstr>
      <vt:lpstr>Задание</vt:lpstr>
      <vt:lpstr>Выполнение простейших операций </vt:lpstr>
      <vt:lpstr>Результат работы</vt:lpstr>
      <vt:lpstr>Выполнение операций с векторами и матрицами</vt:lpstr>
      <vt:lpstr>Результат работы с векторами и матрицами</vt:lpstr>
      <vt:lpstr>Результат работы с векторами и матрицами</vt:lpstr>
      <vt:lpstr>Построение простейшего графика</vt:lpstr>
      <vt:lpstr>Простейший график</vt:lpstr>
      <vt:lpstr>Отрисовка более сложных графиков и запуск цилков</vt:lpstr>
      <vt:lpstr>Улучшенный график</vt:lpstr>
      <vt:lpstr>Два графика на одном чертеже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лабораторной работе №1</dc:title>
  <dc:creator>Аветисян Давид Артурович</dc:creator>
  <cp:lastModifiedBy>a.labuzov@outlook.com</cp:lastModifiedBy>
  <cp:revision>20</cp:revision>
  <dcterms:created xsi:type="dcterms:W3CDTF">2024-09-14T18:35:08Z</dcterms:created>
  <dcterms:modified xsi:type="dcterms:W3CDTF">2024-09-17T21:11:40Z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2024-09-14T00:00:00Z</vt:filetime>
  </property>
  <property fmtid="{D5CDD505-2E9C-101B-9397-08002B2CF9AE}" pid="3" name="Creator">
    <vt:lpwstr>LaTeX via pandoc</vt:lpwstr>
  </property>
  <property fmtid="{D5CDD505-2E9C-101B-9397-08002B2CF9AE}" pid="4" name="LastSaved">
    <vt:filetime>2024-09-14T00:00:00Z</vt:filetime>
  </property>
  <property fmtid="{D5CDD505-2E9C-101B-9397-08002B2CF9AE}" pid="5" name="PTEX.FullBanner">
    <vt:lpwstr>This is LuaHBTeX, Version 1.17.0 (TeX Live 2023/Debian)</vt:lpwstr>
  </property>
  <property fmtid="{D5CDD505-2E9C-101B-9397-08002B2CF9AE}" pid="6" name="Producer">
    <vt:lpwstr>3-Heights(TM) PDF Security Shell 4.8.25.2 (http://www.pdf-tools.com)</vt:lpwstr>
  </property>
</Properties>
</file>